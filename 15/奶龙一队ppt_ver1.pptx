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412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5E2D-2D3A-FEB6-249A-DE4F11A5E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F551A-9A18-F459-DF19-8F05829E5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DB2D1-4428-88C3-D37E-0C84CECEB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89B0A-09CA-131C-8CD7-DA5358057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78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0"/>
            <a:ext cx="7315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5669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98755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75488" y="18105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把一次口述变成连续表达训练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4224528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7939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表达训练系统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01568" y="1014984"/>
            <a:ext cx="164592" cy="164592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9875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个人表达训练系统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401568" y="1545336"/>
            <a:ext cx="164592" cy="164592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5179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适用于路演、面试、会议、公开演讲等多种场景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401568" y="2075688"/>
            <a:ext cx="164592" cy="164592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0482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+ 证据 + 训练任务 + 进步追踪：专业化、可视化评级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11296" y="2926080"/>
            <a:ext cx="1005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0723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3310128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1005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30723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64608" y="3310128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580" dirty="0"/>
          </a:p>
        </p:txBody>
      </p:sp>
      <p:sp>
        <p:nvSpPr>
          <p:cNvPr id="21" name="Shape 19"/>
          <p:cNvSpPr/>
          <p:nvPr/>
        </p:nvSpPr>
        <p:spPr>
          <a:xfrm>
            <a:off x="5998464" y="2926080"/>
            <a:ext cx="1005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08192" y="30723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08192" y="3310128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Assignment</a:t>
            </a: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7242048" y="2926080"/>
            <a:ext cx="1005840" cy="585216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51776" y="30723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51776" y="3310128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4517136" y="3218688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3218688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04304" y="3218688"/>
            <a:ext cx="23774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401568" y="39776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评分不是终点，下一次能练什么才是产品核心。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 BACKGROUND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表达训练为什么难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58368" y="987552"/>
            <a:ext cx="3383280" cy="877824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1207008"/>
            <a:ext cx="310896" cy="31089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2938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53312" y="11887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反馈太泛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353312" y="1481328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没有统一评判标准，建议难以复现。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636008" y="987552"/>
            <a:ext cx="33832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37176" y="1207008"/>
            <a:ext cx="310896" cy="310896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129387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330952" y="11887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没有基线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330952" y="1481328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不知道用户原本水平在哪里。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2231136"/>
            <a:ext cx="33832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2450592"/>
            <a:ext cx="310896" cy="310896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5374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53312" y="2432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没有训练任务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1353312" y="2724912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听完建议不知道下一步练什么。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36008" y="2231136"/>
            <a:ext cx="33832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37176" y="2450592"/>
            <a:ext cx="310896" cy="310896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25374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30952" y="2432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没有反馈流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5330952" y="2724912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第二次比第一次好多少缺少量化标准。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58368" y="3730752"/>
            <a:ext cx="7406640" cy="438912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2688" y="3877056"/>
            <a:ext cx="6583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核心缺口：没有“基线 -&gt; 证据化反馈 -&gt; 训练任务 -&gt; 复测”的连续进步流程。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TEDify V2 在做什么：六步细分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58368" y="950976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1155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用户表达画像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1389888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 / 准备阶段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" y="1412748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56362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听众 / 时间 / 时长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" y="1586484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73736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/ 隐私 / 材料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" y="17602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36976" y="950976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01568" y="11155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基线测试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38144" y="1389888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按场景生成测试题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46704" y="1412748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156362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30-60 秒口述输入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46704" y="1586484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173736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匹配目标时长难度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46704" y="17602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15584" y="950976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0176" y="11155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首次口述分析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16752" y="1389888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结构与连贯规则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25312" y="1412748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156362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语义承接判断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25312" y="1586484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173736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场景适配判断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25312" y="17602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2816352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29809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多维评分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9536" y="325526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/ 连贯 / 场景 / 风格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" y="3278124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342900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 标签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8096" y="345186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" y="3602736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 阻塞问题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8096" y="3625596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6976" y="2816352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01568" y="29809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训练任务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38144" y="325526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问题绑定证据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46704" y="3278124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38144" y="342900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训练动作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46704" y="345186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38144" y="3602736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下一轮成功标准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46704" y="3625596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15584" y="2816352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980176" y="29809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进步报告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16752" y="325526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二次口述对比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25312" y="3278124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6752" y="342900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任务达标情况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25312" y="345186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3602736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下一轮优先级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25312" y="3625596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25">
            <a:extLst>
              <a:ext uri="{FF2B5EF4-FFF2-40B4-BE49-F238E27FC236}">
                <a16:creationId xmlns:a16="http://schemas.microsoft.com/office/drawing/2014/main" id="{D597447F-4C37-16D7-0C98-FC5599FA242E}"/>
              </a:ext>
            </a:extLst>
          </p:cNvPr>
          <p:cNvSpPr/>
          <p:nvPr/>
        </p:nvSpPr>
        <p:spPr>
          <a:xfrm>
            <a:off x="2852928" y="1481328"/>
            <a:ext cx="384048" cy="0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22C118A4-6510-81C8-247B-4905DFEBC7A0}"/>
              </a:ext>
            </a:extLst>
          </p:cNvPr>
          <p:cNvSpPr/>
          <p:nvPr/>
        </p:nvSpPr>
        <p:spPr>
          <a:xfrm>
            <a:off x="5321808" y="1483066"/>
            <a:ext cx="384048" cy="0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1" name="Shape 25">
            <a:extLst>
              <a:ext uri="{FF2B5EF4-FFF2-40B4-BE49-F238E27FC236}">
                <a16:creationId xmlns:a16="http://schemas.microsoft.com/office/drawing/2014/main" id="{DF84C771-44FA-9E53-117F-9C74C6837308}"/>
              </a:ext>
            </a:extLst>
          </p:cNvPr>
          <p:cNvSpPr/>
          <p:nvPr/>
        </p:nvSpPr>
        <p:spPr>
          <a:xfrm flipH="1">
            <a:off x="5343723" y="3367486"/>
            <a:ext cx="471861" cy="9484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4EE4668D-0C62-C447-DD6E-3629524001BF}"/>
              </a:ext>
            </a:extLst>
          </p:cNvPr>
          <p:cNvSpPr/>
          <p:nvPr/>
        </p:nvSpPr>
        <p:spPr>
          <a:xfrm flipH="1">
            <a:off x="2743200" y="3351238"/>
            <a:ext cx="471861" cy="9484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F9EAF2A5-BE0F-721A-A378-8B4481AB428F}"/>
              </a:ext>
            </a:extLst>
          </p:cNvPr>
          <p:cNvSpPr/>
          <p:nvPr/>
        </p:nvSpPr>
        <p:spPr>
          <a:xfrm flipV="1">
            <a:off x="2505456" y="1970532"/>
            <a:ext cx="3310128" cy="841412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A5D45B9D-9A85-6DF0-9D61-CF441C6C95AE}"/>
              </a:ext>
            </a:extLst>
          </p:cNvPr>
          <p:cNvSpPr/>
          <p:nvPr/>
        </p:nvSpPr>
        <p:spPr>
          <a:xfrm flipH="1">
            <a:off x="6430272" y="2038975"/>
            <a:ext cx="0" cy="772969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ONBOARDING PROFILE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1A：首屏必问决定评分权重和训练路径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58368" y="896112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5097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必须先问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86384" y="1335024"/>
            <a:ext cx="128016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/ 字段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12848" y="1335024"/>
            <a:ext cx="370332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0" y="1335024"/>
            <a:ext cx="14630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" y="1572768"/>
            <a:ext cx="7607808" cy="420624"/>
          </a:xfrm>
          <a:prstGeom prst="roundRect">
            <a:avLst>
              <a:gd name="adj" fmla="val 10870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1572768"/>
            <a:ext cx="73152" cy="420624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55064"/>
            <a:ext cx="11155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练哪类表达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training_goal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12848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课堂展示 / 面试自我介绍 / 工作汇报 / 路演融资 / 销售提案 / 主持发言 / 英文演讲 / 闲聊 / 其他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1664208"/>
            <a:ext cx="13716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场景评分权重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基线测试题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训练模板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" y="2103120"/>
            <a:ext cx="760780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2103120"/>
            <a:ext cx="73152" cy="420624"/>
          </a:xfrm>
          <a:prstGeom prst="rect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85416"/>
            <a:ext cx="11155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准备到哪一步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readiness_stage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12848" y="2176272"/>
            <a:ext cx="36576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还没有主题 / 只有主题 / 有大纲 / 有完整稿子 / 有 PPT / 只想练表达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2157984"/>
            <a:ext cx="13716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判断需要写作助教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结构教练 / 改稿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还是表达训练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" y="2633472"/>
            <a:ext cx="760780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" y="2633472"/>
            <a:ext cx="73152" cy="420624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715768"/>
            <a:ext cx="11155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讲给谁听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audience_type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12848" y="2706624"/>
            <a:ext cx="36576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老师同学 / 面试官 / 领导同事 / 客户 / 投资人 / 大众观众 / 评委 / 朋友社交 / 混合听众 / 不确定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2688336"/>
            <a:ext cx="13716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听众适配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说服路径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证据类型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58368" y="3163824"/>
            <a:ext cx="760780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3163824"/>
            <a:ext cx="73152" cy="420624"/>
          </a:xfrm>
          <a:prstGeom prst="rect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246120"/>
            <a:ext cx="11155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什么时候用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time_horizon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12848" y="3236976"/>
            <a:ext cx="36576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 / 3 天内 / 一周内 / 一个月内 / 长期练习 / 不确定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3218688"/>
            <a:ext cx="13716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救急模式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或长期训练模式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反馈密度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3694176"/>
            <a:ext cx="760780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3694176"/>
            <a:ext cx="73152" cy="420624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776472"/>
            <a:ext cx="111556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需要讲多久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target_duration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12848" y="3767328"/>
            <a:ext cx="36576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分钟以内 / 1 分钟 / 3 分钟 / 5 分钟 / 10 分钟以上 / 不确定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0" y="3749040"/>
            <a:ext cx="13716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基线长度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结构复杂度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压缩训练任务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8368" y="4315968"/>
            <a:ext cx="7607808" cy="292608"/>
          </a:xfrm>
          <a:prstGeom prst="roundRect">
            <a:avLst>
              <a:gd name="adj" fmla="val 18750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77824" y="4407408"/>
            <a:ext cx="674827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1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实现原则：这些字段不是问卷装饰，而是直接驱动 scoring weight、baseline prompt、assignment template 和 report density。</a:t>
            </a:r>
            <a:endParaRPr lang="en-US" sz="6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1618-18FF-7CA4-A20E-17EDF342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34B14E-8F1C-6DE0-2498-99FD3AD6D3DE}"/>
              </a:ext>
            </a:extLst>
          </p:cNvPr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1E77BD-3181-25CD-60F7-C28566ACEB4C}"/>
              </a:ext>
            </a:extLst>
          </p:cNvPr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TEDify V2 在做什么：六步细分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C4801D-3DD2-FBC3-1405-54D717DBEA3A}"/>
              </a:ext>
            </a:extLst>
          </p:cNvPr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884D3A-C453-CF04-AC39-2B60BF490AFC}"/>
              </a:ext>
            </a:extLst>
          </p:cNvPr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219DC7-CC9E-C5CC-51D2-7B642486A7CF}"/>
              </a:ext>
            </a:extLst>
          </p:cNvPr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E82575-7DBB-B27D-31D9-B7CA29A33635}"/>
              </a:ext>
            </a:extLst>
          </p:cNvPr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D8DCE82-FBE1-8889-78A3-5C2A60680093}"/>
              </a:ext>
            </a:extLst>
          </p:cNvPr>
          <p:cNvSpPr/>
          <p:nvPr/>
        </p:nvSpPr>
        <p:spPr>
          <a:xfrm>
            <a:off x="658368" y="950976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BA11A0D-C3CA-62FB-44F6-18AB81B96D84}"/>
              </a:ext>
            </a:extLst>
          </p:cNvPr>
          <p:cNvSpPr/>
          <p:nvPr/>
        </p:nvSpPr>
        <p:spPr>
          <a:xfrm>
            <a:off x="822960" y="11155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用户表达画像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332849D-9733-6D81-3349-6CC0424DED6E}"/>
              </a:ext>
            </a:extLst>
          </p:cNvPr>
          <p:cNvSpPr/>
          <p:nvPr/>
        </p:nvSpPr>
        <p:spPr>
          <a:xfrm>
            <a:off x="859536" y="1389888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 / 准备阶段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6E8A56A-AC3F-79A2-2EC7-CD7CC2B818EF}"/>
              </a:ext>
            </a:extLst>
          </p:cNvPr>
          <p:cNvSpPr/>
          <p:nvPr/>
        </p:nvSpPr>
        <p:spPr>
          <a:xfrm>
            <a:off x="768096" y="1412748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DBD3412-527B-7B80-0413-385319086B79}"/>
              </a:ext>
            </a:extLst>
          </p:cNvPr>
          <p:cNvSpPr/>
          <p:nvPr/>
        </p:nvSpPr>
        <p:spPr>
          <a:xfrm>
            <a:off x="859536" y="156362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听众 / 时间 / 时长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1463110-B7AD-0F4F-47F5-480FEE88DAEE}"/>
              </a:ext>
            </a:extLst>
          </p:cNvPr>
          <p:cNvSpPr/>
          <p:nvPr/>
        </p:nvSpPr>
        <p:spPr>
          <a:xfrm>
            <a:off x="768096" y="1586484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5EFFF6-0A61-8C4A-214F-301467CA7D3E}"/>
              </a:ext>
            </a:extLst>
          </p:cNvPr>
          <p:cNvSpPr/>
          <p:nvPr/>
        </p:nvSpPr>
        <p:spPr>
          <a:xfrm>
            <a:off x="859536" y="173736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/ 隐私 / 材料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BCB8ADE-0B92-F5F5-A4CC-1E1D99CB9A9C}"/>
              </a:ext>
            </a:extLst>
          </p:cNvPr>
          <p:cNvSpPr/>
          <p:nvPr/>
        </p:nvSpPr>
        <p:spPr>
          <a:xfrm>
            <a:off x="768096" y="17602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197D30D-A472-B767-4E82-E54DB141701B}"/>
              </a:ext>
            </a:extLst>
          </p:cNvPr>
          <p:cNvSpPr/>
          <p:nvPr/>
        </p:nvSpPr>
        <p:spPr>
          <a:xfrm>
            <a:off x="3236976" y="950976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4E53FA5-C503-E591-0ED4-4F981DBAFBC9}"/>
              </a:ext>
            </a:extLst>
          </p:cNvPr>
          <p:cNvSpPr/>
          <p:nvPr/>
        </p:nvSpPr>
        <p:spPr>
          <a:xfrm>
            <a:off x="3401568" y="11155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基线测试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515F568-B762-4C07-06E5-87386F05B0FF}"/>
              </a:ext>
            </a:extLst>
          </p:cNvPr>
          <p:cNvSpPr/>
          <p:nvPr/>
        </p:nvSpPr>
        <p:spPr>
          <a:xfrm>
            <a:off x="3438144" y="1389888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按场景生成测试题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B326B5D-8E24-92EF-4DE7-84B6DFAAB00B}"/>
              </a:ext>
            </a:extLst>
          </p:cNvPr>
          <p:cNvSpPr/>
          <p:nvPr/>
        </p:nvSpPr>
        <p:spPr>
          <a:xfrm>
            <a:off x="3346704" y="1412748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668CE08-04DD-807D-F3C6-435122A0E8E5}"/>
              </a:ext>
            </a:extLst>
          </p:cNvPr>
          <p:cNvSpPr/>
          <p:nvPr/>
        </p:nvSpPr>
        <p:spPr>
          <a:xfrm>
            <a:off x="3438144" y="156362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30-60 秒口述输入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F6A9B33-F13F-2F3B-7DB7-99AB8F041E59}"/>
              </a:ext>
            </a:extLst>
          </p:cNvPr>
          <p:cNvSpPr/>
          <p:nvPr/>
        </p:nvSpPr>
        <p:spPr>
          <a:xfrm>
            <a:off x="3346704" y="1586484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0BC4B22-BC49-FE72-5B6D-F1C23CE8F0E7}"/>
              </a:ext>
            </a:extLst>
          </p:cNvPr>
          <p:cNvSpPr/>
          <p:nvPr/>
        </p:nvSpPr>
        <p:spPr>
          <a:xfrm>
            <a:off x="3438144" y="173736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匹配目标时长难度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676A5D5-E465-1880-31C3-FFE0070AF565}"/>
              </a:ext>
            </a:extLst>
          </p:cNvPr>
          <p:cNvSpPr/>
          <p:nvPr/>
        </p:nvSpPr>
        <p:spPr>
          <a:xfrm>
            <a:off x="3346704" y="17602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C0555FD-49F7-3421-C297-A8A6178F19BF}"/>
              </a:ext>
            </a:extLst>
          </p:cNvPr>
          <p:cNvSpPr/>
          <p:nvPr/>
        </p:nvSpPr>
        <p:spPr>
          <a:xfrm>
            <a:off x="5815584" y="950976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52E32D3-1AF7-9B88-7E2D-0E7005A9CE5D}"/>
              </a:ext>
            </a:extLst>
          </p:cNvPr>
          <p:cNvSpPr/>
          <p:nvPr/>
        </p:nvSpPr>
        <p:spPr>
          <a:xfrm>
            <a:off x="5980176" y="11155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首次口述分析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F1BB1D-FC61-48B5-4115-C40753F47BE9}"/>
              </a:ext>
            </a:extLst>
          </p:cNvPr>
          <p:cNvSpPr/>
          <p:nvPr/>
        </p:nvSpPr>
        <p:spPr>
          <a:xfrm>
            <a:off x="6016752" y="1389888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结构与连贯规则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B0CB100-C2A8-DAB2-BC6F-6676CCDA5EE3}"/>
              </a:ext>
            </a:extLst>
          </p:cNvPr>
          <p:cNvSpPr/>
          <p:nvPr/>
        </p:nvSpPr>
        <p:spPr>
          <a:xfrm>
            <a:off x="5925312" y="1412748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CA5D172-7DD1-221C-B614-308BC343A674}"/>
              </a:ext>
            </a:extLst>
          </p:cNvPr>
          <p:cNvSpPr/>
          <p:nvPr/>
        </p:nvSpPr>
        <p:spPr>
          <a:xfrm>
            <a:off x="6016752" y="156362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语义承接判断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92EC80C-B105-8E0F-E489-C5E2119A60E0}"/>
              </a:ext>
            </a:extLst>
          </p:cNvPr>
          <p:cNvSpPr/>
          <p:nvPr/>
        </p:nvSpPr>
        <p:spPr>
          <a:xfrm>
            <a:off x="5925312" y="1586484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C553178-860D-4177-0485-4C416655678E}"/>
              </a:ext>
            </a:extLst>
          </p:cNvPr>
          <p:cNvSpPr/>
          <p:nvPr/>
        </p:nvSpPr>
        <p:spPr>
          <a:xfrm>
            <a:off x="6016752" y="173736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场景适配判断</a:t>
            </a: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6FF3F83-AA78-92E9-1137-D918584343FF}"/>
              </a:ext>
            </a:extLst>
          </p:cNvPr>
          <p:cNvSpPr/>
          <p:nvPr/>
        </p:nvSpPr>
        <p:spPr>
          <a:xfrm>
            <a:off x="5925312" y="176022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15B5AA7-DACE-6FF7-88B8-6AFF086D9E54}"/>
              </a:ext>
            </a:extLst>
          </p:cNvPr>
          <p:cNvSpPr/>
          <p:nvPr/>
        </p:nvSpPr>
        <p:spPr>
          <a:xfrm>
            <a:off x="658368" y="2816352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535380D-4B81-32A1-E75E-D0EEC2813940}"/>
              </a:ext>
            </a:extLst>
          </p:cNvPr>
          <p:cNvSpPr/>
          <p:nvPr/>
        </p:nvSpPr>
        <p:spPr>
          <a:xfrm>
            <a:off x="822960" y="29809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多维评分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4A8D436-6429-865B-9ACD-6700ED4E36CC}"/>
              </a:ext>
            </a:extLst>
          </p:cNvPr>
          <p:cNvSpPr/>
          <p:nvPr/>
        </p:nvSpPr>
        <p:spPr>
          <a:xfrm>
            <a:off x="859536" y="325526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/ 连贯 / 场景 / 风格</a:t>
            </a:r>
            <a:endParaRPr lang="en-US" sz="10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899394C-6932-F5F0-AC52-2E1BA27E1C57}"/>
              </a:ext>
            </a:extLst>
          </p:cNvPr>
          <p:cNvSpPr/>
          <p:nvPr/>
        </p:nvSpPr>
        <p:spPr>
          <a:xfrm>
            <a:off x="768096" y="3278124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3DD55EA-C85D-7F5E-A793-5E290B9BDCFB}"/>
              </a:ext>
            </a:extLst>
          </p:cNvPr>
          <p:cNvSpPr/>
          <p:nvPr/>
        </p:nvSpPr>
        <p:spPr>
          <a:xfrm>
            <a:off x="859536" y="342900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 标签</a:t>
            </a:r>
            <a:endParaRPr lang="en-US" sz="10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20A1C6F-2800-6E1D-CA2B-7546FC18A88B}"/>
              </a:ext>
            </a:extLst>
          </p:cNvPr>
          <p:cNvSpPr/>
          <p:nvPr/>
        </p:nvSpPr>
        <p:spPr>
          <a:xfrm>
            <a:off x="768096" y="345186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4EF997F-7544-F62A-FCB9-21CB7954AB35}"/>
              </a:ext>
            </a:extLst>
          </p:cNvPr>
          <p:cNvSpPr/>
          <p:nvPr/>
        </p:nvSpPr>
        <p:spPr>
          <a:xfrm>
            <a:off x="859536" y="3602736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 阻塞问题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5E8E559-693B-D9D9-AF6E-C07095B4F4C6}"/>
              </a:ext>
            </a:extLst>
          </p:cNvPr>
          <p:cNvSpPr/>
          <p:nvPr/>
        </p:nvSpPr>
        <p:spPr>
          <a:xfrm>
            <a:off x="768096" y="3625596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51B17A3-0925-577C-67AC-A0EF75FCF74D}"/>
              </a:ext>
            </a:extLst>
          </p:cNvPr>
          <p:cNvSpPr/>
          <p:nvPr/>
        </p:nvSpPr>
        <p:spPr>
          <a:xfrm>
            <a:off x="3236976" y="2816352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BA2C099-9DF1-B1AE-FD29-39CE9772E835}"/>
              </a:ext>
            </a:extLst>
          </p:cNvPr>
          <p:cNvSpPr/>
          <p:nvPr/>
        </p:nvSpPr>
        <p:spPr>
          <a:xfrm>
            <a:off x="3401568" y="29809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训练任务</a:t>
            </a:r>
            <a:endParaRPr lang="en-US" sz="10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7D8FBEA-8CD2-59F7-C258-EC66C68774FA}"/>
              </a:ext>
            </a:extLst>
          </p:cNvPr>
          <p:cNvSpPr/>
          <p:nvPr/>
        </p:nvSpPr>
        <p:spPr>
          <a:xfrm>
            <a:off x="3438144" y="325526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问题绑定证据</a:t>
            </a:r>
            <a:endParaRPr lang="en-US" sz="1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2EA5CA4-A649-874B-727A-625013E92767}"/>
              </a:ext>
            </a:extLst>
          </p:cNvPr>
          <p:cNvSpPr/>
          <p:nvPr/>
        </p:nvSpPr>
        <p:spPr>
          <a:xfrm>
            <a:off x="3346704" y="3278124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3F48F87-E6F6-8734-3868-A420D09CAC6F}"/>
              </a:ext>
            </a:extLst>
          </p:cNvPr>
          <p:cNvSpPr/>
          <p:nvPr/>
        </p:nvSpPr>
        <p:spPr>
          <a:xfrm>
            <a:off x="3438144" y="342900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训练动作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431F13A8-6338-660A-CB2B-10517120C90B}"/>
              </a:ext>
            </a:extLst>
          </p:cNvPr>
          <p:cNvSpPr/>
          <p:nvPr/>
        </p:nvSpPr>
        <p:spPr>
          <a:xfrm>
            <a:off x="3346704" y="345186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B32E1CD7-EA77-73B5-ACEB-8FC2A680D31E}"/>
              </a:ext>
            </a:extLst>
          </p:cNvPr>
          <p:cNvSpPr/>
          <p:nvPr/>
        </p:nvSpPr>
        <p:spPr>
          <a:xfrm>
            <a:off x="3438144" y="3602736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下一轮成功标准</a:t>
            </a:r>
            <a:endParaRPr lang="en-US" sz="10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63B0375-A926-1530-C7C6-B5071AA18505}"/>
              </a:ext>
            </a:extLst>
          </p:cNvPr>
          <p:cNvSpPr/>
          <p:nvPr/>
        </p:nvSpPr>
        <p:spPr>
          <a:xfrm>
            <a:off x="3346704" y="3625596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25BF420-CAAC-58F2-8092-20125F511DA1}"/>
              </a:ext>
            </a:extLst>
          </p:cNvPr>
          <p:cNvSpPr/>
          <p:nvPr/>
        </p:nvSpPr>
        <p:spPr>
          <a:xfrm>
            <a:off x="5815584" y="2816352"/>
            <a:ext cx="20848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F27C189-099E-B17F-C398-DF493A209FB9}"/>
              </a:ext>
            </a:extLst>
          </p:cNvPr>
          <p:cNvSpPr/>
          <p:nvPr/>
        </p:nvSpPr>
        <p:spPr>
          <a:xfrm>
            <a:off x="5980176" y="29809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进步报告</a:t>
            </a:r>
            <a:endParaRPr lang="en-US" sz="10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85769FA-B6C0-A872-F8C7-D6E67EFE2103}"/>
              </a:ext>
            </a:extLst>
          </p:cNvPr>
          <p:cNvSpPr/>
          <p:nvPr/>
        </p:nvSpPr>
        <p:spPr>
          <a:xfrm>
            <a:off x="6016752" y="3255264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二次口述对比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0FFD763B-7EAD-0067-BC65-A8D16F8C48F8}"/>
              </a:ext>
            </a:extLst>
          </p:cNvPr>
          <p:cNvSpPr/>
          <p:nvPr/>
        </p:nvSpPr>
        <p:spPr>
          <a:xfrm>
            <a:off x="5925312" y="3278124"/>
            <a:ext cx="45720" cy="45720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4BAC262-8814-6A2E-4C94-69AFB22AD324}"/>
              </a:ext>
            </a:extLst>
          </p:cNvPr>
          <p:cNvSpPr/>
          <p:nvPr/>
        </p:nvSpPr>
        <p:spPr>
          <a:xfrm>
            <a:off x="6016752" y="3429000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任务达标情况</a:t>
            </a:r>
            <a:endParaRPr lang="en-US" sz="10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11E35D8A-74CE-7A67-6411-4D94350EB1CF}"/>
              </a:ext>
            </a:extLst>
          </p:cNvPr>
          <p:cNvSpPr/>
          <p:nvPr/>
        </p:nvSpPr>
        <p:spPr>
          <a:xfrm>
            <a:off x="5925312" y="3451860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13E68D5-9ED3-50F1-DD85-3902DFA24339}"/>
              </a:ext>
            </a:extLst>
          </p:cNvPr>
          <p:cNvSpPr/>
          <p:nvPr/>
        </p:nvSpPr>
        <p:spPr>
          <a:xfrm>
            <a:off x="6016752" y="3602736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下一轮优先级</a:t>
            </a:r>
            <a:endParaRPr lang="en-US" sz="10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720B591-A52A-EAF8-59D8-09E77B3648AD}"/>
              </a:ext>
            </a:extLst>
          </p:cNvPr>
          <p:cNvSpPr/>
          <p:nvPr/>
        </p:nvSpPr>
        <p:spPr>
          <a:xfrm>
            <a:off x="5925312" y="3625596"/>
            <a:ext cx="45720" cy="457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25">
            <a:extLst>
              <a:ext uri="{FF2B5EF4-FFF2-40B4-BE49-F238E27FC236}">
                <a16:creationId xmlns:a16="http://schemas.microsoft.com/office/drawing/2014/main" id="{A8254D42-1B61-F2BE-58AE-B67B93661B17}"/>
              </a:ext>
            </a:extLst>
          </p:cNvPr>
          <p:cNvSpPr/>
          <p:nvPr/>
        </p:nvSpPr>
        <p:spPr>
          <a:xfrm>
            <a:off x="2852928" y="1481328"/>
            <a:ext cx="384048" cy="0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A99AF712-7690-2AFF-2FF2-3644EDB3B65B}"/>
              </a:ext>
            </a:extLst>
          </p:cNvPr>
          <p:cNvSpPr/>
          <p:nvPr/>
        </p:nvSpPr>
        <p:spPr>
          <a:xfrm>
            <a:off x="5321808" y="1483066"/>
            <a:ext cx="384048" cy="0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1" name="Shape 25">
            <a:extLst>
              <a:ext uri="{FF2B5EF4-FFF2-40B4-BE49-F238E27FC236}">
                <a16:creationId xmlns:a16="http://schemas.microsoft.com/office/drawing/2014/main" id="{419B1061-7C8F-9AA9-6A96-8A3126BB66B1}"/>
              </a:ext>
            </a:extLst>
          </p:cNvPr>
          <p:cNvSpPr/>
          <p:nvPr/>
        </p:nvSpPr>
        <p:spPr>
          <a:xfrm flipH="1">
            <a:off x="5343723" y="3367486"/>
            <a:ext cx="471861" cy="9484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BA35AE95-91E8-01C3-C39C-0D6D45D407D1}"/>
              </a:ext>
            </a:extLst>
          </p:cNvPr>
          <p:cNvSpPr/>
          <p:nvPr/>
        </p:nvSpPr>
        <p:spPr>
          <a:xfrm flipH="1">
            <a:off x="2743200" y="3351238"/>
            <a:ext cx="471861" cy="9484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3710545C-6A03-B598-FF9C-AA270347D2CA}"/>
              </a:ext>
            </a:extLst>
          </p:cNvPr>
          <p:cNvSpPr/>
          <p:nvPr/>
        </p:nvSpPr>
        <p:spPr>
          <a:xfrm flipV="1">
            <a:off x="2505456" y="1970532"/>
            <a:ext cx="3310128" cy="841412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3EFBA38C-C563-38B2-746A-55B1AF7C56F2}"/>
              </a:ext>
            </a:extLst>
          </p:cNvPr>
          <p:cNvSpPr/>
          <p:nvPr/>
        </p:nvSpPr>
        <p:spPr>
          <a:xfrm flipH="1">
            <a:off x="6430272" y="2038975"/>
            <a:ext cx="0" cy="772969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65856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ONBOARDING PROFILE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1B：可选字段、后置问题和画像总表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932688"/>
            <a:ext cx="2542032" cy="1225296"/>
          </a:xfrm>
          <a:prstGeom prst="roundRect">
            <a:avLst>
              <a:gd name="adj" fmla="val 5224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105156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首屏可选：primary_pain_points，最多选 2 个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786384" y="1298448"/>
            <a:ext cx="54864" cy="5486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280160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紧张卡壳 / 逻辑不清 / 太啰嗦 / 说服力弱 / 表达不自然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>
            <a:off x="786384" y="1463040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444752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答辩追问应对 / 语速或节奏担忧 / 声音稳定性担忧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786384" y="1627632"/>
            <a:ext cx="54864" cy="5486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609344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肢体或眼神担忧 / 不确定</a:t>
            </a:r>
            <a:endParaRPr lang="en-US" sz="495" dirty="0"/>
          </a:p>
        </p:txBody>
      </p:sp>
      <p:sp>
        <p:nvSpPr>
          <p:cNvPr id="16" name="Shape 14"/>
          <p:cNvSpPr/>
          <p:nvPr/>
        </p:nvSpPr>
        <p:spPr>
          <a:xfrm>
            <a:off x="786384" y="1792224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1773936"/>
            <a:ext cx="2157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限制：语速、声音、肢体、眼神当前只作为自述痛点</a:t>
            </a:r>
            <a:endParaRPr lang="en-US" sz="495" dirty="0"/>
          </a:p>
        </p:txBody>
      </p:sp>
      <p:sp>
        <p:nvSpPr>
          <p:cNvPr id="18" name="Shape 16"/>
          <p:cNvSpPr/>
          <p:nvPr/>
        </p:nvSpPr>
        <p:spPr>
          <a:xfrm>
            <a:off x="3401568" y="932688"/>
            <a:ext cx="2304288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9584" y="105156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后置问题：feedback_style / material_type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3547872" y="1298448"/>
            <a:ext cx="54864" cy="5486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280160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反馈风格：直接指出 / 温和鼓励 / 考试评分 / 逐句修改 / 只给 3 个建议</a:t>
            </a:r>
            <a:endParaRPr lang="en-US" sz="495" dirty="0"/>
          </a:p>
        </p:txBody>
      </p:sp>
      <p:sp>
        <p:nvSpPr>
          <p:cNvPr id="22" name="Shape 20"/>
          <p:cNvSpPr/>
          <p:nvPr/>
        </p:nvSpPr>
        <p:spPr>
          <a:xfrm>
            <a:off x="3547872" y="1463040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444752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材料类型：暂不上传 / 文字稿 / 大纲 / PPT / 音频转写 / 视频转写</a:t>
            </a:r>
            <a:endParaRPr lang="en-US" sz="495" dirty="0"/>
          </a:p>
        </p:txBody>
      </p:sp>
      <p:sp>
        <p:nvSpPr>
          <p:cNvPr id="24" name="Shape 22"/>
          <p:cNvSpPr/>
          <p:nvPr/>
        </p:nvSpPr>
        <p:spPr>
          <a:xfrm>
            <a:off x="5925312" y="932688"/>
            <a:ext cx="2304288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53328" y="105156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后置问题：privacy_sensitivity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6071616" y="1298448"/>
            <a:ext cx="54864" cy="5486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280160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公开或通用内容 / 个人隐私 / 公司机密</a:t>
            </a:r>
            <a:endParaRPr lang="en-US" sz="495" dirty="0"/>
          </a:p>
        </p:txBody>
      </p:sp>
      <p:sp>
        <p:nvSpPr>
          <p:cNvPr id="28" name="Shape 26"/>
          <p:cNvSpPr/>
          <p:nvPr/>
        </p:nvSpPr>
        <p:spPr>
          <a:xfrm>
            <a:off x="6071616" y="1463040"/>
            <a:ext cx="54864" cy="5486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1444752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面试或考试内容 / 客户或第三方内容 / 不确定</a:t>
            </a:r>
            <a:endParaRPr lang="en-US" sz="495" dirty="0"/>
          </a:p>
        </p:txBody>
      </p:sp>
      <p:sp>
        <p:nvSpPr>
          <p:cNvPr id="30" name="Shape 28"/>
          <p:cNvSpPr/>
          <p:nvPr/>
        </p:nvSpPr>
        <p:spPr>
          <a:xfrm>
            <a:off x="6071616" y="1627632"/>
            <a:ext cx="54864" cy="5486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1609344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5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影响：上传提示、存储策略、报告引用和分享边界</a:t>
            </a:r>
            <a:endParaRPr lang="en-US" sz="495" dirty="0"/>
          </a:p>
        </p:txBody>
      </p:sp>
      <p:sp>
        <p:nvSpPr>
          <p:cNvPr id="32" name="Shape 30"/>
          <p:cNvSpPr/>
          <p:nvPr/>
        </p:nvSpPr>
        <p:spPr>
          <a:xfrm>
            <a:off x="640080" y="2487168"/>
            <a:ext cx="7589520" cy="1225296"/>
          </a:xfrm>
          <a:prstGeom prst="roundRect">
            <a:avLst>
              <a:gd name="adj" fmla="val 5970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7824" y="2688336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2743200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个画像字段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14400" y="305409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training_goal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688336" y="305409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readiness_stage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462272" y="305409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audience_type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6236208" y="305409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time_horizon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914400" y="320040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target_duration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2688336" y="320040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primary_pain_points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4462272" y="320040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feedback_style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6236208" y="320040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material_type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914400" y="334670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material_upload_intent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2688336" y="334670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privacy_sensitivity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4462272" y="334670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support_need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6236208" y="334670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desired_audience_action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914400" y="349300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audience_knowledge_level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2688336" y="349300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qna_expected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4462272" y="349300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language_context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6236208" y="349300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stakes_level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914400" y="3639312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topic_brief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640080" y="4041648"/>
            <a:ext cx="7589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0080" y="4041648"/>
            <a:ext cx="73152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" y="4160520"/>
            <a:ext cx="6748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这些字段放在产品闭环第 1 步：UserExpressionProfile。后续六步都读取同一份 profile，而不是让模型临场猜测用户意图。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PREVIEW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从一次口述到下一轮训练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58368" y="932688"/>
            <a:ext cx="2286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170432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225296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32688" y="16276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用户目标：路演表达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32688" y="1938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A0A0A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输入：60 秒讲清项目价值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32688" y="2432304"/>
            <a:ext cx="1444752" cy="219456"/>
          </a:xfrm>
          <a:prstGeom prst="roundRect">
            <a:avLst>
              <a:gd name="adj" fmla="val 41667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491740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核心观点出现太晚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932688" y="2743200"/>
            <a:ext cx="1444752" cy="219456"/>
          </a:xfrm>
          <a:prstGeom prst="roundRect">
            <a:avLst>
              <a:gd name="adj" fmla="val 41667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802636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证据不足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932688" y="3054096"/>
            <a:ext cx="1444752" cy="219456"/>
          </a:xfrm>
          <a:prstGeom prst="roundRect">
            <a:avLst>
              <a:gd name="adj" fmla="val 41667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113532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结尾没有请求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932688" y="349300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系统发现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438446" y="2523403"/>
            <a:ext cx="987250" cy="1"/>
          </a:xfrm>
          <a:prstGeom prst="line">
            <a:avLst/>
          </a:prstGeom>
          <a:noFill/>
          <a:ln w="1524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92040" y="932688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0A0A0A"/>
          </a:solidFill>
          <a:ln w="6350">
            <a:solidFill>
              <a:srgbClr val="0A0A0A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75504" y="117043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22529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75504" y="1627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系统任务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93792" y="200253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04688" y="19751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秒三句话开场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193792" y="244144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04688" y="24140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补充一个用户场景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193792" y="288036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04688" y="28529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最后一句明确行动请求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175504" y="3401568"/>
            <a:ext cx="2377440" cy="0"/>
          </a:xfrm>
          <a:prstGeom prst="line">
            <a:avLst/>
          </a:prstGeom>
          <a:noFill/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360273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第二次口述：对比第一轮，展示结构、证据、CTA 的进步。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42976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A0A0A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视觉重点：Before / After 对比。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系统如何跑起来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3232" y="914400"/>
            <a:ext cx="1554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7824" y="111556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77824" y="14081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画像表单 / 口述输入 / 分析报告 / 进步流页面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2743200" y="914400"/>
            <a:ext cx="1554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07792" y="111556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907792" y="14081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接收输入，管理历史记录和报告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4773168" y="914400"/>
            <a:ext cx="1554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11556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规则分析器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937760" y="14081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关键词、重复、结构、连贯性代理指标</a:t>
            </a:r>
            <a:endParaRPr lang="en-US" sz="640" dirty="0"/>
          </a:p>
        </p:txBody>
      </p:sp>
      <p:sp>
        <p:nvSpPr>
          <p:cNvPr id="17" name="Shape 15"/>
          <p:cNvSpPr/>
          <p:nvPr/>
        </p:nvSpPr>
        <p:spPr>
          <a:xfrm>
            <a:off x="4773168" y="2578608"/>
            <a:ext cx="1554480" cy="932688"/>
          </a:xfrm>
          <a:prstGeom prst="roundRect">
            <a:avLst>
              <a:gd name="adj" fmla="val 7843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77977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分析器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937760" y="30723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语义承接、场景适配、训练任务生成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2743200" y="2578608"/>
            <a:ext cx="15544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07792" y="277977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Registry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2907792" y="30723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只允许引用已验证来源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2267712" y="1380744"/>
            <a:ext cx="42062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97680" y="1380744"/>
            <a:ext cx="42062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50408" y="1874520"/>
            <a:ext cx="0" cy="56692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36592" y="3044952"/>
            <a:ext cx="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56832" y="914400"/>
            <a:ext cx="1737360" cy="2596896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94576" y="11704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输出报告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94576" y="1572768"/>
            <a:ext cx="115214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568196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维度评分</a:t>
            </a:r>
            <a:endParaRPr lang="en-US" sz="610" dirty="0"/>
          </a:p>
        </p:txBody>
      </p:sp>
      <p:sp>
        <p:nvSpPr>
          <p:cNvPr id="31" name="Shape 29"/>
          <p:cNvSpPr/>
          <p:nvPr/>
        </p:nvSpPr>
        <p:spPr>
          <a:xfrm>
            <a:off x="6894576" y="1883664"/>
            <a:ext cx="115214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187909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问题证据</a:t>
            </a:r>
            <a:endParaRPr lang="en-US" sz="610" dirty="0"/>
          </a:p>
        </p:txBody>
      </p:sp>
      <p:sp>
        <p:nvSpPr>
          <p:cNvPr id="33" name="Shape 31"/>
          <p:cNvSpPr/>
          <p:nvPr/>
        </p:nvSpPr>
        <p:spPr>
          <a:xfrm>
            <a:off x="6894576" y="2194560"/>
            <a:ext cx="1152144" cy="109728"/>
          </a:xfrm>
          <a:prstGeom prst="rect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189988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 问题</a:t>
            </a:r>
            <a:endParaRPr lang="en-US" sz="610" dirty="0"/>
          </a:p>
        </p:txBody>
      </p:sp>
      <p:sp>
        <p:nvSpPr>
          <p:cNvPr id="35" name="Shape 33"/>
          <p:cNvSpPr/>
          <p:nvPr/>
        </p:nvSpPr>
        <p:spPr>
          <a:xfrm>
            <a:off x="6894576" y="2505456"/>
            <a:ext cx="115214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500884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训练任务</a:t>
            </a:r>
            <a:endParaRPr lang="en-US" sz="610" dirty="0"/>
          </a:p>
        </p:txBody>
      </p:sp>
      <p:sp>
        <p:nvSpPr>
          <p:cNvPr id="37" name="Shape 35"/>
          <p:cNvSpPr/>
          <p:nvPr/>
        </p:nvSpPr>
        <p:spPr>
          <a:xfrm>
            <a:off x="6894576" y="2816352"/>
            <a:ext cx="115214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81178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下一轮成功标准</a:t>
            </a:r>
            <a:endParaRPr lang="en-US" sz="610" dirty="0"/>
          </a:p>
        </p:txBody>
      </p:sp>
      <p:sp>
        <p:nvSpPr>
          <p:cNvPr id="39" name="Text 37"/>
          <p:cNvSpPr/>
          <p:nvPr/>
        </p:nvSpPr>
        <p:spPr>
          <a:xfrm>
            <a:off x="713232" y="4096512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A0A0A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技术架构图：前端只展示流程，评分和来源约束在服务端完成。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我们如何把表达变成可追踪数据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49808" y="1005840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143000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UserProfile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896112" y="136245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90" dirty="0">
                <a:solidFill>
                  <a:srgbClr val="FFFFFF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目标、场景、听众、痛点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98064" y="1005840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44368" y="1143000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SpeechAttempt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2944368" y="136245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9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每次口述文本、时长、轮次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92624" y="1143000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AnalysisReport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992624" y="136245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9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维度分、证据、问题标签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4846320" y="2212848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2350008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TrainingAssignment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992624" y="2569464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9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训练任务、完成标准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98064" y="3236976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44368" y="3374136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ProgressSnapshot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2944368" y="3593592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9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前后变化、下一轮优先级</a:t>
            </a:r>
            <a:endParaRPr lang="en-US" sz="590" dirty="0"/>
          </a:p>
        </p:txBody>
      </p:sp>
      <p:sp>
        <p:nvSpPr>
          <p:cNvPr id="26" name="Shape 24"/>
          <p:cNvSpPr/>
          <p:nvPr/>
        </p:nvSpPr>
        <p:spPr>
          <a:xfrm>
            <a:off x="2578608" y="1316736"/>
            <a:ext cx="201168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26864" y="1316736"/>
            <a:ext cx="201168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1627632"/>
            <a:ext cx="0" cy="493776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46320" y="2834640"/>
            <a:ext cx="0" cy="475488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47104" y="2523744"/>
            <a:ext cx="0" cy="0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60120" y="422452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 图重点：长期价值来自 Attempt History。画像、报告、任务、进步快照都能被追踪和比较。</a:t>
            </a:r>
            <a:endParaRPr lang="en-US" sz="7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BE49C09-D884-F1F8-1EC4-685B6FC3B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94" y="758952"/>
            <a:ext cx="667188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不是数关键词，而是评级标签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76656" y="914400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" y="104241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thesis_first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86384" y="1225296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FFFFFF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核心观点是否前置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2615184" y="914400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24912" y="104241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context_setup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2724912" y="1225296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是否建立背景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4553712" y="914400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4241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reasoning_chain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663440" y="1225296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推理链是否清楚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6492240" y="914400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01968" y="104241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evidence_support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6601968" y="1225296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是否有证据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676656" y="1664208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" y="179222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transition_signal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786384" y="1975104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是否有过渡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2615184" y="1664208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24912" y="179222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topic_drift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2724912" y="1975104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是否跑题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4553712" y="1664208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179222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call_to_action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4663440" y="1975104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是否有行动请求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6492240" y="1664208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01968" y="179222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memory_hook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601968" y="1975104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是否有记忆点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822960" y="2788920"/>
            <a:ext cx="731520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33856" y="3108960"/>
            <a:ext cx="603504" cy="219456"/>
          </a:xfrm>
          <a:prstGeom prst="roundRect">
            <a:avLst>
              <a:gd name="adj" fmla="val 41667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316839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1828800" y="3218688"/>
            <a:ext cx="50292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505456" y="3108960"/>
            <a:ext cx="603504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16839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3200400" y="3218688"/>
            <a:ext cx="50292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877056" y="3108960"/>
            <a:ext cx="896112" cy="219456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3168396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训练任务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4901184" y="3218688"/>
            <a:ext cx="50292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577840" y="3108960"/>
            <a:ext cx="896112" cy="219456"/>
          </a:xfrm>
          <a:prstGeom prst="roundRect">
            <a:avLst>
              <a:gd name="adj" fmla="val 41667"/>
            </a:avLst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3168396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1005840" y="3858768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0A0A0A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示例：核心观点出现太晚 -&gt; 第 4 段才出现主张 -&gt; 15 秒三句话开场 -&gt; 第一句出现主张，第三句出现请求。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822960" y="3813048"/>
            <a:ext cx="73152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已经能展示什么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3232" y="960120"/>
            <a:ext cx="15727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960120"/>
            <a:ext cx="1572768" cy="256032"/>
          </a:xfrm>
          <a:prstGeom prst="rect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03327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Onboarding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859536" y="13807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选择训练方向和痛点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859536" y="1709928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1965960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2221992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960120"/>
            <a:ext cx="15727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960120"/>
            <a:ext cx="1572768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103327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2798064" y="13807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30-60 秒测试题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798064" y="1709928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98064" y="1965960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98064" y="2221992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960120"/>
            <a:ext cx="15727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960120"/>
            <a:ext cx="1572768" cy="256032"/>
          </a:xfrm>
          <a:prstGeom prst="rect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03327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4736592" y="13807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评分、证据、Top 3 问题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736592" y="1709928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1965960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2221992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28816" y="960120"/>
            <a:ext cx="15727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28816" y="960120"/>
            <a:ext cx="1572768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03327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6675120" y="13807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第一轮和第二轮变化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675120" y="1709928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1965960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2221992"/>
            <a:ext cx="1280160" cy="9144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1609344"/>
            <a:ext cx="256032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224528" y="1609344"/>
            <a:ext cx="256032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163056" y="1609344"/>
            <a:ext cx="256032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13232" y="2871216"/>
            <a:ext cx="7388352" cy="859536"/>
          </a:xfrm>
          <a:prstGeom prst="roundRect">
            <a:avLst>
              <a:gd name="adj" fmla="val 8511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87552" y="307238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" y="3127248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Onboarding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41832" y="3429000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选择训练方向和痛点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2359152" y="307238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32304" y="3127248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313432" y="3429000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30-60 秒测试题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3730752" y="307238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03904" y="3127248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685032" y="3429000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输出评分、证据、Top 3 问题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5102352" y="307238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75504" y="3127248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Assignment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056632" y="3429000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每个问题绑定训练动作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6473952" y="307238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47104" y="3127248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28232" y="3429000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展示前后变化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713232" y="4160520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0A0A0A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视觉重点：3-4 张页面截图或 mockup。当前版本用可编辑 mockup 表达功能链路。</a:t>
            </a:r>
            <a:endParaRPr lang="en-US" sz="72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D1424D-042A-7523-AD24-BF69FF83DEE7}"/>
              </a:ext>
            </a:extLst>
          </p:cNvPr>
          <p:cNvSpPr txBox="1"/>
          <p:nvPr/>
        </p:nvSpPr>
        <p:spPr>
          <a:xfrm>
            <a:off x="3282696" y="2464862"/>
            <a:ext cx="2031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我们会记录用户的成长路线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可以服务哪些表达场景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94944" y="960120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197864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289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89888" y="11795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89888" y="1472184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回答行为问题，提升结构化表达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73552" y="960120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197864"/>
            <a:ext cx="329184" cy="32918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289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68496" y="11795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68496" y="1472184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更快讲清价值和商业请求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52160" y="960120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1197864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1289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47104" y="11795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47104" y="1472184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提出建议、推动决策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4944" y="2221992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2459736"/>
            <a:ext cx="329184" cy="32918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255117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89888" y="2441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89888" y="2734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说服路径和证据支撑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73552" y="2221992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2459736"/>
            <a:ext cx="329184" cy="32918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55117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68496" y="2441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68496" y="2734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提升开头吸引力和记忆点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2221992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53328" y="2459736"/>
            <a:ext cx="329184" cy="32918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255117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47104" y="2441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公开演讲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47104" y="2734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0A0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结构、节奏、结尾强化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3232" y="3858768"/>
            <a:ext cx="7351776" cy="384048"/>
          </a:xfrm>
          <a:prstGeom prst="roundRect">
            <a:avLst>
              <a:gd name="adj" fmla="val 19048"/>
            </a:avLst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664208" y="4023360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场景卡片 / 用户类型矩阵：同一套数据对象和 Rubric，可以按场景切换测试题、权重和训练任务。</a:t>
            </a:r>
            <a:endParaRPr lang="en-US" sz="7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&amp;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智言</a:t>
            </a: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的价值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4681728"/>
            <a:ext cx="7571232" cy="0"/>
          </a:xfrm>
          <a:prstGeom prst="line">
            <a:avLst/>
          </a:prstGeom>
          <a:noFill/>
          <a:ln w="8255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TEDify V2 MVP Roadshow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30768" y="4645152"/>
            <a:ext cx="384048" cy="256032"/>
          </a:xfrm>
          <a:prstGeom prst="roundRect">
            <a:avLst>
              <a:gd name="adj" fmla="val 39286"/>
            </a:avLst>
          </a:prstGeom>
          <a:solidFill>
            <a:srgbClr val="0A0A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46680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3232" y="932688"/>
            <a:ext cx="32735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932688"/>
            <a:ext cx="73152" cy="713232"/>
          </a:xfrm>
          <a:prstGeom prst="rect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09728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719072" y="1115568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个人表达训练订阅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4517136" y="932688"/>
            <a:ext cx="32735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7136" y="932688"/>
            <a:ext cx="73152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09728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5522976" y="1115568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企业沟通培训、销售训练、面试训练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713232" y="1993392"/>
            <a:ext cx="32735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1993392"/>
            <a:ext cx="73152" cy="713232"/>
          </a:xfrm>
          <a:prstGeom prst="rect">
            <a:avLst/>
          </a:prstGeom>
          <a:solidFill>
            <a:srgbClr val="007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21579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教育场景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719072" y="21762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0A0A0A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大学演讲课、职业发展中心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4517136" y="1993392"/>
            <a:ext cx="3273552" cy="713232"/>
          </a:xfrm>
          <a:prstGeom prst="roundRect">
            <a:avLst>
              <a:gd name="adj" fmla="val 10256"/>
            </a:avLst>
          </a:prstGeom>
          <a:solidFill>
            <a:srgbClr val="0A0A0A"/>
          </a:solidFill>
          <a:ln w="6350">
            <a:solidFill>
              <a:srgbClr val="F5F5F5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17136" y="1993392"/>
            <a:ext cx="73152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1579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数据价值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5522976" y="21762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长期表达画像和能力成长轨迹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713232" y="3547872"/>
            <a:ext cx="7406640" cy="713232"/>
          </a:xfrm>
          <a:prstGeom prst="roundRect">
            <a:avLst>
              <a:gd name="adj" fmla="val 12821"/>
            </a:avLst>
          </a:prstGeom>
          <a:solidFill>
            <a:srgbClr val="0A0A0A"/>
          </a:solidFill>
          <a:ln w="6350">
            <a:solidFill>
              <a:srgbClr val="0A0A0A"/>
            </a:solidFill>
            <a:prstDash val="solid"/>
          </a:ln>
          <a:effectLst>
            <a:outerShdw blurRad="25400" dist="12700" dir="2700000" algn="bl" rotWithShape="0">
              <a:srgbClr val="0A0A0A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24128" y="37673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TEDify 不是演讲稿润色工具，而是可验证、可训练、可持续进步的个人表达训练系统。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3886200" y="440740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9352" y="446227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Roadshow Close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888</Words>
  <Application>Microsoft Macintosh PowerPoint</Application>
  <PresentationFormat>On-screen Show (16:9)</PresentationFormat>
  <Paragraphs>319</Paragraphs>
  <Slides>13</Slides>
  <Notes>13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TEDify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TEDify V2 Roadshow Demo - Onboarding Profile</dc:title>
  <dc:subject>TEDify V2 Roadshow With Onboarding Profile</dc:subject>
  <dc:creator>TEDify Team</dc:creator>
  <cp:lastModifiedBy>rainfox</cp:lastModifiedBy>
  <cp:revision>2</cp:revision>
  <dcterms:created xsi:type="dcterms:W3CDTF">2026-07-09T08:27:33Z</dcterms:created>
  <dcterms:modified xsi:type="dcterms:W3CDTF">2026-07-09T08:38:27Z</dcterms:modified>
</cp:coreProperties>
</file>